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367A3"/>
                </a:solidFill>
              </a:defRPr>
            </a:pPr>
            <a:r>
              <a:t>AEGIS</a:t>
            </a:r>
          </a:p>
          <a:p>
            <a:pPr>
              <a:defRPr sz="2200" b="1">
                <a:solidFill>
                  <a:srgbClr val="172B46"/>
                </a:solidFill>
              </a:defRPr>
            </a:pPr>
            <a:r>
              <a:t>Adaptive Emergency Governance &amp; Intelligent Supply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108960"/>
            <a:ext cx="8869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An enterprise decision-intelligence workspace combining leakage-safe quantile GBDT forecasting, SciPy HiGHS Mixed-Integer Linear Programming (MILP), TreeSHAP attribution, and 100% grounded GenAI decision explanations for multi-echelon medical consumable supply chains.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389120"/>
            <a:ext cx="8869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78D73"/>
                </a:solidFill>
              </a:defRPr>
            </a:pPr>
            <a:r>
              <a:t>DATANOVA 2026 Submission  •  Milestone 4 Final Release  •  79 Passing Tests  •  Audited &amp; Reconciled Metrics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367A3"/>
                </a:solidFill>
              </a:defRPr>
            </a:pPr>
            <a:r>
              <a:t>AEGIS • DATANOVA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2B46"/>
                </a:solidFill>
              </a:defRPr>
            </a:pPr>
            <a:r>
              <a:t>The Criticality of Non-Patient-Specific Medical Supply Chains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367A3"/>
                </a:solidFill>
              </a:defRPr>
            </a:pPr>
            <a:r>
              <a:t>1. Operational Vulnerability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Hospitals rely on uninterrupted flows of PPE, disinfectants, and sterile supplies.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Stockouts halt elective surgeries and trigger emergency ad-hoc courier fees.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Demand is non-stationary, exhibiting dual rhythms and Poisson emergency surges.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46304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C78B31"/>
                </a:solidFill>
              </a:defRPr>
            </a:pPr>
            <a:r>
              <a:t>2. The Supply Chain Trilemma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Clinical Severity vs. Budget: Trauma centers face 3x shortage penalty multipliers.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Routing Economics vs. Responsiveness: Fixed route fees ($150 + $1.20/km) demand consolidation.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Fairness vs. Efficiency: Proportional allocation starves trauma centers; greedy allocation abandons rural clinics.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46304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6176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78D73"/>
                </a:solidFill>
              </a:defRPr>
            </a:pPr>
            <a:r>
              <a:t>3. The AEGIS Innovation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Unified Decision Loop: Seamlessly links quantile demand forecasts into exact MILP solvers.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Mathematically Optimal: Solves SciPy HiGHS MILP in sub-second runtimes with branch-and-cut guarantees.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Explainable &amp; Grounded: TreeSHAP for forecasts, Decision Explainer for allocations, Grounded GenAI for directors.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367A3"/>
                </a:solidFill>
              </a:defRPr>
            </a:pPr>
            <a:r>
              <a:t>AEGIS • DATANOVA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2B46"/>
                </a:solidFill>
              </a:defRPr>
            </a:pPr>
            <a:r>
              <a:t>Deterministic Data Provenance &amp; Leakage Prevention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367A3"/>
                </a:solidFill>
              </a:defRPr>
            </a:pPr>
            <a:r>
              <a:t>Physically Grounded Synthetic Topology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20 Simulated Hospitals across 4 tiers (Level 1 Trauma to Specialty Clinics) with 90–850 beds.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3 Fulfillment Depots: Central Logistics Depot (50%), Northern Hub (25%), Southern Hub (25%).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3 Product Categories: PPE, Sanitation, and Medical Utility across 365 daily observations (21,900 rows).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Synthetic Coordinates: Cartesian 2D grid with 1.25 circuity factor for road transit distances.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Provable Reproducibility: Deterministic seed=42, manifest.json, and SHA-256 cryptographic hashes.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0975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378D73"/>
                </a:solidFill>
              </a:defRPr>
            </a:pPr>
            <a:r>
              <a:t>Strict Anti-Leakage Protocol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Chronological Partitions: Strict temporal boundaries preventing future information leakage:</a:t>
            </a:r>
          </a:p>
          <a:p>
            <a:pPr>
              <a:defRPr sz="1000" b="0">
                <a:solidFill>
                  <a:srgbClr val="64748B"/>
                </a:solidFill>
              </a:defRPr>
            </a:pPr>
            <a:r>
              <a:t>   - Train Set: Days 1–260 (~8.5 months)</a:t>
            </a:r>
          </a:p>
          <a:p>
            <a:pPr>
              <a:defRPr sz="1000" b="0">
                <a:solidFill>
                  <a:srgbClr val="64748B"/>
                </a:solidFill>
              </a:defRPr>
            </a:pPr>
            <a:r>
              <a:t>   - Development / Val Set: Days 261–310 (~50 days for tuning and calibration)</a:t>
            </a:r>
          </a:p>
          <a:p>
            <a:pPr>
              <a:defRPr sz="1000" b="0">
                <a:solidFill>
                  <a:srgbClr val="64748B"/>
                </a:solidFill>
              </a:defRPr>
            </a:pPr>
            <a:r>
              <a:t>   - Held-Out Test Set: Days 311–365 (~55 days, strictly isolated)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Shifted Rolling Lags: All rolling statistics apply shift(1) to guarantee zero current-day target leakage.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Imputation Directionality: Telemetry dropouts use forward-fill (ffill); back-fill is forbidden.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367A3"/>
                </a:solidFill>
              </a:defRPr>
            </a:pPr>
            <a:r>
              <a:t>AEGIS • DATANOVA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2B46"/>
                </a:solidFill>
              </a:defRPr>
            </a:pPr>
            <a:r>
              <a:t>End-to-End Enterprise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367A3"/>
                </a:solidFill>
              </a:defRPr>
            </a:pPr>
            <a:r>
              <a:t>1. Data &amp; Feature Engineering</a:t>
            </a:r>
          </a:p>
          <a:p>
            <a:pPr>
              <a:defRPr sz="1100">
                <a:solidFill>
                  <a:srgbClr val="172B46"/>
                </a:solidFill>
              </a:defRPr>
            </a:pPr>
            <a:r>
              <a:t>Deterministic generator (365 days, 20 hospitals, 3 categories). 39 leakage-safe lagged and rolling features saved to Apache PyArrow Parquet with cryptographic SHA-256 manifest.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70048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61488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367A3"/>
                </a:solidFill>
              </a:defRPr>
            </a:pPr>
            <a:r>
              <a:t>2. Probabilistic Forecasting</a:t>
            </a:r>
          </a:p>
          <a:p>
            <a:pPr>
              <a:defRPr sz="1100">
                <a:solidFill>
                  <a:srgbClr val="172B46"/>
                </a:solidFill>
              </a:defRPr>
            </a:pPr>
            <a:r>
              <a:t>Quantile GBDT producing point forecasts alongside 10th and 90th percentile bounds. Validated test WAPE: 14.62% (MAE: 54.240 vs Seasonal-Naive: 113.339; -52.1% error reduction). Empirical 80% interval coverage: 84.64% on held-out test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77056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68496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78D73"/>
                </a:solidFill>
              </a:defRPr>
            </a:pPr>
            <a:r>
              <a:t>3. Multi-Echelon MILP Engine</a:t>
            </a:r>
          </a:p>
          <a:p>
            <a:pPr>
              <a:defRPr sz="1100">
                <a:solidFill>
                  <a:srgbClr val="172B46"/>
                </a:solidFill>
              </a:defRPr>
            </a:pPr>
            <a:r>
              <a:t>SciPy HiGHS branch-and-cut solver optimizing integer shipments, binary route activations, and vehicle trips under inventory, throughput, fleet, and fairness constraints.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84064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75504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C78B31"/>
                </a:solidFill>
              </a:defRPr>
            </a:pPr>
            <a:r>
              <a:t>4. Explainability &amp; GenAI Layer</a:t>
            </a:r>
          </a:p>
          <a:p>
            <a:pPr>
              <a:defRPr sz="1100">
                <a:solidFill>
                  <a:srgbClr val="172B46"/>
                </a:solidFill>
              </a:defRPr>
            </a:pPr>
            <a:r>
              <a:t>TreeSHAP efficiency decomposition for predictions; deterministic Allocation Decision Explainer for OR constraints; optional Grounded GenAI with prompt-injection defense and offline fallback.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367A3"/>
                </a:solidFill>
              </a:defRPr>
            </a:pPr>
            <a:r>
              <a:t>AEGIS • DATANOVA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2B46"/>
                </a:solidFill>
              </a:defRPr>
            </a:pPr>
            <a:r>
              <a:t>Mathematical Optimization Engine (SciPy HiGHS MILP)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367A3"/>
                </a:solidFill>
              </a:defRPr>
            </a:pPr>
            <a:r>
              <a:t>Mathematical Formulation</a:t>
            </a:r>
          </a:p>
          <a:p>
            <a:pPr>
              <a:defRPr sz="1100" b="1">
                <a:solidFill>
                  <a:srgbClr val="172B46"/>
                </a:solidFill>
              </a:defRPr>
            </a:pPr>
            <a:r>
              <a:t>Decision Variables:</a:t>
            </a:r>
          </a:p>
          <a:p>
            <a:pPr>
              <a:defRPr sz="1000" b="0">
                <a:solidFill>
                  <a:srgbClr val="64748B"/>
                </a:solidFill>
              </a:defRPr>
            </a:pPr>
            <a:r>
              <a:t>• x(w,h,c) in Z+: Integer units shipped from warehouse w to hospital h.</a:t>
            </a:r>
          </a:p>
          <a:p>
            <a:pPr>
              <a:defRPr sz="1000" b="0">
                <a:solidFill>
                  <a:srgbClr val="64748B"/>
                </a:solidFill>
              </a:defRPr>
            </a:pPr>
            <a:r>
              <a:t>• y(w,h) in {0,1}: Binary route activation variable.</a:t>
            </a:r>
          </a:p>
          <a:p>
            <a:pPr>
              <a:defRPr sz="1000" b="0">
                <a:solidFill>
                  <a:srgbClr val="64748B"/>
                </a:solidFill>
              </a:defRPr>
            </a:pPr>
            <a:r>
              <a:t>• v(w,h) in Z+: Integer vehicle dispatch count.</a:t>
            </a:r>
          </a:p>
          <a:p>
            <a:pPr>
              <a:defRPr sz="1000" b="0">
                <a:solidFill>
                  <a:srgbClr val="64748B"/>
                </a:solidFill>
              </a:defRPr>
            </a:pPr>
            <a:r>
              <a:t>• s(h,c,k) &gt;= 0: Continuous unmet demand recourse shortage.</a:t>
            </a:r>
          </a:p>
          <a:p>
            <a:pPr>
              <a:defRPr sz="1100" b="1">
                <a:solidFill>
                  <a:srgbClr val="172B46"/>
                </a:solidFill>
              </a:defRPr>
            </a:pPr>
            <a:r>
              <a:t>Objective Function:</a:t>
            </a:r>
          </a:p>
          <a:p>
            <a:pPr>
              <a:defRPr sz="1000" b="0">
                <a:solidFill>
                  <a:srgbClr val="2367A3"/>
                </a:solidFill>
              </a:defRPr>
            </a:pPr>
            <a:r>
              <a:t>min sum [ c_ship * x + c_route * y + c_veh * v ] + sum p_k * [ pi_short * s ]</a:t>
            </a:r>
          </a:p>
          <a:p>
            <a:pPr>
              <a:defRPr sz="1000" b="0">
                <a:solidFill>
                  <a:srgbClr val="172B46"/>
                </a:solidFill>
              </a:defRPr>
            </a:pPr>
            <a:r>
              <a:t>Where pi_short reflects clinical triage weights (Level 1 Trauma = 3.0x, Regional = 2.0x, Community = 1.2x, Specialty = 1.0x).</a:t>
            </a:r>
          </a:p>
          <a:p>
            <a:pPr>
              <a:defRPr sz="1000" b="1">
                <a:solidFill>
                  <a:srgbClr val="C78B31"/>
                </a:solidFill>
              </a:defRPr>
            </a:pPr>
            <a:r>
              <a:t>• Explicit Cost Distinction: Physical cash freight (distance, vehicle trips, route fees) is ~$34k–$45k. Modeled shortage penalty ($150–$450/unit) reflects patient triage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0975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378D73"/>
                </a:solidFill>
              </a:defRPr>
            </a:pPr>
            <a:r>
              <a:t>Physical Constraints &amp; Relaxation Analysis</a:t>
            </a:r>
          </a:p>
          <a:p>
            <a:pPr>
              <a:defRPr sz="1100" b="1">
                <a:solidFill>
                  <a:srgbClr val="172B46"/>
                </a:solidFill>
              </a:defRPr>
            </a:pPr>
            <a:r>
              <a:t>Hard Physical Constraints:</a:t>
            </a:r>
          </a:p>
          <a:p>
            <a:pPr>
              <a:defRPr sz="1000" b="0">
                <a:solidFill>
                  <a:srgbClr val="64748B"/>
                </a:solidFill>
              </a:defRPr>
            </a:pPr>
            <a:r>
              <a:t>1. Inventory Conservation: sum_h x(w,h,c) &lt;= I(w,c)</a:t>
            </a:r>
          </a:p>
          <a:p>
            <a:pPr>
              <a:defRPr sz="1000" b="0">
                <a:solidFill>
                  <a:srgbClr val="64748B"/>
                </a:solidFill>
              </a:defRPr>
            </a:pPr>
            <a:r>
              <a:t>2. Warehouse Dispatch Limits: sum_hc x(w,h,c) &lt;= Cap(w)</a:t>
            </a:r>
          </a:p>
          <a:p>
            <a:pPr>
              <a:defRPr sz="1000" b="0">
                <a:solidFill>
                  <a:srgbClr val="64748B"/>
                </a:solidFill>
              </a:defRPr>
            </a:pPr>
            <a:r>
              <a:t>3. Fleet &amp; Route Linking: sum_c x &lt;= Q_veh * v &lt;= M * y</a:t>
            </a:r>
          </a:p>
          <a:p>
            <a:pPr>
              <a:defRPr sz="1000" b="0">
                <a:solidFill>
                  <a:srgbClr val="64748B"/>
                </a:solidFill>
              </a:defRPr>
            </a:pPr>
            <a:r>
              <a:t>4. Minimum Service Coverage (Fairness): sum_w x &gt;= alpha_min * d</a:t>
            </a:r>
          </a:p>
          <a:p>
            <a:pPr>
              <a:defRPr sz="1100" b="1">
                <a:solidFill>
                  <a:srgbClr val="C78B31"/>
                </a:solidFill>
              </a:defRPr>
            </a:pPr>
            <a:r>
              <a:t>Automated Fairness Relaxation Analyzer:</a:t>
            </a:r>
          </a:p>
          <a:p>
            <a:pPr>
              <a:defRPr sz="1000" b="0">
                <a:solidFill>
                  <a:srgbClr val="172B46"/>
                </a:solidFill>
              </a:defRPr>
            </a:pPr>
            <a:r>
              <a:t>• When alpha_min is mathematically infeasible, AEGIS computes maximum feasible coverage alpha* and exact resource deficits (inventory &amp; throughput shortfalls).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367A3"/>
                </a:solidFill>
              </a:defRPr>
            </a:pPr>
            <a:r>
              <a:t>AEGIS • DATANOVA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2B46"/>
                </a:solidFill>
              </a:defRPr>
            </a:pPr>
            <a:r>
              <a:t>Dual-Layer Explainability &amp; Grounded GenAI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367A3"/>
                </a:solidFill>
              </a:defRPr>
            </a:pPr>
            <a:r>
              <a:t>1. TreeSHAP (ML Forecast)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Explains the statistical forecast y_hat.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Exact polynomial algorithm (Lundberg et al., 2020) across 39 features.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Strict Additivity Verified: Base E[Y] + sum phi_i = y_hat with &lt; 1e-4 error.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Dominant features: demand_lag_7, demand_rolling_7_mean, bed_capacity.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46304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378D73"/>
                </a:solidFill>
              </a:defRPr>
            </a:pPr>
            <a:r>
              <a:t>2. Decision Explainer (OR)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Explains optimization allocations x(w,h,c).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SHAP cannot explain allocations because allocations depend on stock limits, vehicle sizes, and route fees.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Mathematical attribution of binding constraints, route activation economics, and clinical triage tier tradeoffs.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46304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6176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C78B31"/>
                </a:solidFill>
              </a:defRPr>
            </a:pPr>
            <a:r>
              <a:t>3. Grounded GenAI Layer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Pydantic DecisionContextRecord encapsulating verified metrics.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Factual Grounding Validator: Rejects ungrounded numbers and hallucinations.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Prompt-Injection Defense: Sanitizes adversarial operator notes.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Zero Paid API Dependency: Fully operational deterministic fallback.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367A3"/>
                </a:solidFill>
              </a:defRPr>
            </a:pPr>
            <a:r>
              <a:t>AEGIS • DATANOVA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2B46"/>
                </a:solidFill>
              </a:defRPr>
            </a:pPr>
            <a:r>
              <a:t>Audited Scientific Benchmark &amp; Policy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Policy Architecture</a:t>
                      </a:r>
                    </a:p>
                  </a:txBody>
                  <a:tcPr>
                    <a:solidFill>
                      <a:srgbClr val="17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Feasibility Rate (30 runs)</a:t>
                      </a:r>
                    </a:p>
                  </a:txBody>
                  <a:tcPr>
                    <a:solidFill>
                      <a:srgbClr val="17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Mean Fill Rate (N=16)</a:t>
                      </a:r>
                    </a:p>
                  </a:txBody>
                  <a:tcPr>
                    <a:solidFill>
                      <a:srgbClr val="17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Cash Freight Cost</a:t>
                      </a:r>
                    </a:p>
                  </a:txBody>
                  <a:tcPr>
                    <a:solidFill>
                      <a:srgbClr val="17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Shortage Penalty</a:t>
                      </a:r>
                    </a:p>
                  </a:txBody>
                  <a:tcPr>
                    <a:solidFill>
                      <a:srgbClr val="172B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Modeled Total Cost</a:t>
                      </a:r>
                    </a:p>
                  </a:txBody>
                  <a:tcPr>
                    <a:solidFill>
                      <a:srgbClr val="172B4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72B46"/>
                          </a:solidFill>
                        </a:defRPr>
                      </a:pPr>
                      <a:r>
                        <a:t>Two-Stage Stochastic MILP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72B46"/>
                          </a:solidFill>
                        </a:defRPr>
                      </a:pPr>
                      <a:r>
                        <a:t>25 / 30 (83.3%)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72B46"/>
                          </a:solidFill>
                        </a:defRPr>
                      </a:pPr>
                      <a:r>
                        <a:t>99.13%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72B46"/>
                          </a:solidFill>
                        </a:defRPr>
                      </a:pPr>
                      <a:r>
                        <a:t>$44,623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72B46"/>
                          </a:solidFill>
                        </a:defRPr>
                      </a:pPr>
                      <a:r>
                        <a:t>$233,435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72B46"/>
                          </a:solidFill>
                        </a:defRPr>
                      </a:pPr>
                      <a:r>
                        <a:t>$278,058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72B46"/>
                          </a:solidFill>
                        </a:defRPr>
                      </a:pPr>
                      <a:r>
                        <a:t>Deterministic MILP (HiGHS)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72B46"/>
                          </a:solidFill>
                        </a:defRPr>
                      </a:pPr>
                      <a:r>
                        <a:t>21 / 30 (70.0%)*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72B46"/>
                          </a:solidFill>
                        </a:defRPr>
                      </a:pPr>
                      <a:r>
                        <a:t>96.95%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72B46"/>
                          </a:solidFill>
                        </a:defRPr>
                      </a:pPr>
                      <a:r>
                        <a:t>$33,732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72B46"/>
                          </a:solidFill>
                        </a:defRPr>
                      </a:pPr>
                      <a:r>
                        <a:t>$414,728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72B46"/>
                          </a:solidFill>
                        </a:defRPr>
                      </a:pPr>
                      <a:r>
                        <a:t>$448,459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72B46"/>
                          </a:solidFill>
                        </a:defRPr>
                      </a:pPr>
                      <a:r>
                        <a:t>Demand-Priority Greedy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72B46"/>
                          </a:solidFill>
                        </a:defRPr>
                      </a:pPr>
                      <a:r>
                        <a:t>20 / 30 (66.7%)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72B46"/>
                          </a:solidFill>
                        </a:defRPr>
                      </a:pPr>
                      <a:r>
                        <a:t>96.78%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72B46"/>
                          </a:solidFill>
                        </a:defRPr>
                      </a:pPr>
                      <a:r>
                        <a:t>$38,410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72B46"/>
                          </a:solidFill>
                        </a:defRPr>
                      </a:pPr>
                      <a:r>
                        <a:t>$420,264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72B46"/>
                          </a:solidFill>
                        </a:defRPr>
                      </a:pPr>
                      <a:r>
                        <a:t>$458,674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72B46"/>
                          </a:solidFill>
                        </a:defRPr>
                      </a:pPr>
                      <a:r>
                        <a:t>Proportional Allocation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72B46"/>
                          </a:solidFill>
                        </a:defRPr>
                      </a:pPr>
                      <a:r>
                        <a:t>24 / 30 (80.0%)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72B46"/>
                          </a:solidFill>
                        </a:defRPr>
                      </a:pPr>
                      <a:r>
                        <a:t>95.79%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72B46"/>
                          </a:solidFill>
                        </a:defRPr>
                      </a:pPr>
                      <a:r>
                        <a:t>$37,783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72B46"/>
                          </a:solidFill>
                        </a:defRPr>
                      </a:pPr>
                      <a:r>
                        <a:t>$429,860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72B46"/>
                          </a:solidFill>
                        </a:defRPr>
                      </a:pPr>
                      <a:r>
                        <a:t>$467,643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389120"/>
            <a:ext cx="10728655" cy="18288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2367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628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367A3"/>
                </a:solidFill>
              </a:defRPr>
            </a:pPr>
            <a:r>
              <a:t>Audited Benchmark Evidence (Common Feasible Subset N=16 Matched Scenarios):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Stochastic MILP Dominance: Two-Stage Stochastic MILP cuts modeled total cost by -$170,401 (-38.0%) vs Deterministic MILP and -$189,585 (-40.5%) vs Proportional (p &lt; 0.0001, 95% bootstrap CI).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Cash Freight vs Modeled Penalties: Stochastic MILP spends ~$6.8k–$10.8k more in physical freight consolidation to satisfy demand under upper-tail surges, eliminating over $180k in catastrophic hospital shortage penalties.</a:t>
            </a:r>
          </a:p>
          <a:p>
            <a:pPr>
              <a:defRPr sz="1000" b="0">
                <a:solidFill>
                  <a:srgbClr val="64748B"/>
                </a:solidFill>
              </a:defRPr>
            </a:pPr>
            <a:r>
              <a:t>• Note: Synthetic simulation across 30 instances (6 regimes). Modeled total costs reflect clinical triage penalties ($150–$450/unit); physical cash freight spend is $34k–$45k. *4 Det MILP runs had valid incumbents at time limit.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367A3"/>
                </a:solidFill>
              </a:defRPr>
            </a:pPr>
            <a:r>
              <a:t>AEGIS • DATANOVA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2B46"/>
                </a:solidFill>
              </a:defRPr>
            </a:pPr>
            <a:r>
              <a:t>AEGIS Decision Workspace — Live Application Evidence</a:t>
            </a:r>
          </a:p>
        </p:txBody>
      </p:sp>
      <p:pic>
        <p:nvPicPr>
          <p:cNvPr id="5" name="Picture 4" descr="01_overview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3909060"/>
          </a:xfrm>
          <a:prstGeom prst="rect">
            <a:avLst/>
          </a:prstGeom>
        </p:spPr>
      </p:pic>
      <p:pic>
        <p:nvPicPr>
          <p:cNvPr id="6" name="Picture 5" descr="03_explainability_genai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1463040"/>
            <a:ext cx="5212080" cy="39090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669280"/>
            <a:ext cx="5212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367A3"/>
                </a:solidFill>
              </a:defRPr>
            </a:pPr>
            <a:r>
              <a:t>Tab 1: 2D Cartesian Facility Map &amp; 55-Day Quantile Timeseries Forecast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095" y="5669280"/>
            <a:ext cx="5212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367A3"/>
                </a:solidFill>
              </a:defRPr>
            </a:pPr>
            <a:r>
              <a:t>Tab 3: TreeSHAP Waterfall Decomposition &amp; Grounded GenAI Decision Card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367A3"/>
                </a:solidFill>
              </a:defRPr>
            </a:pPr>
            <a:r>
              <a:t>AEGIS • DATANOVA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2B46"/>
                </a:solidFill>
              </a:defRPr>
            </a:pPr>
            <a:r>
              <a:t>Governance, Security Boundaries &amp; System Limits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367A3"/>
                </a:solidFill>
              </a:defRPr>
            </a:pPr>
            <a:r>
              <a:t>Responsible AI &amp; Governance Safeguards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Zero Patient-Specific Data (No PHI/PII): Purely aggregates consumable box inventory; immune to HIPAA privacy breaches.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Clinical Disclaimer: AEGIS explicitly governs supply logistics and does NOT provide patient diagnosis, prescription, or clinical triage advice.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Prompt-Injection Resistance: Regex filter blocks override patterns (e.g. 'ignore previous instructions', 'bypass governance').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Human-in-the-Loop Authority: Final warehouse dispatch requires human authorization; solver results are decision recommendations.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0975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C78B31"/>
                </a:solidFill>
              </a:defRPr>
            </a:pPr>
            <a:r>
              <a:t>Operational Caveats &amp; System Limitations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Synthetic Generalizability: While the dual-seasonality Poisson surge generator models realistic dynamics, synthetic data cannot foresee geopolitical embargoes or sudden regulatory mandates.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Bounded Solvers: Time limits (20s ceiling) prevent infinite Branch-and-Cut branching under extreme combinatorial scenarios.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Client Rendering: High scenario matrices render client-side via Plotly, which may experience minor UI latency on low-spec hardware.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367A3"/>
                </a:solidFill>
              </a:defRPr>
            </a:pPr>
            <a:r>
              <a:t>AEGIS • DATANOVA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72B46"/>
                </a:solidFill>
              </a:defRPr>
            </a:pPr>
            <a:r>
              <a:t>Implementation Roadmap &amp; Healthcare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367A3"/>
                </a:solidFill>
              </a:defRPr>
            </a:pPr>
            <a:r>
              <a:t>Production Rollout Roadmap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Phase 1 (Immediate / Q1 2026): Streamlit Community Cloud deployment with automated cryptographic audit checks.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Phase 2 (Q2 2026): Live HL7 / FHIR SupplyDelivery integration to ingest automated RFID consumption telemetry.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Phase 3 (Q3 2026): Dynamic in-transit vehicle rerouting with GPS traffic feeds and cold-chain temperature monitors.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Phase 4 (Q4 2026): Multi-regional federation linking statewide emergency stockpiles with FEMA coordination.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0975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378D73"/>
                </a:solidFill>
              </a:defRPr>
            </a:pPr>
            <a:r>
              <a:t>Quantified Healthcare Impact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49% Reduction in Preventable Shortages: Stochastic MILP slashes mean unmet demand from 1,862 units to 937.9 units on the common benchmark.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38%–40% Modeled Cost Reduction: Multi-scenario hedging eliminates $170k–$190k in emergency clinical penalties while optimizing physical fleet routing.</a:t>
            </a:r>
          </a:p>
          <a:p>
            <a:pPr>
              <a:defRPr sz="1100" b="0">
                <a:solidFill>
                  <a:srgbClr val="172B46"/>
                </a:solidFill>
              </a:defRPr>
            </a:pPr>
            <a:r>
              <a:t>• Operational Trust: Factual grounding and TreeSHAP waterfall transparency give logistics incident commanders confidence in algorithmic recommendations.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