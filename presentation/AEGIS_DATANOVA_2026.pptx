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2367A3"/>
                </a:solidFill>
              </a:defRPr>
            </a:pPr>
            <a:r>
              <a:t>AEGIS</a:t>
            </a:r>
          </a:p>
          <a:p>
            <a:pPr>
              <a:defRPr sz="2200" b="1">
                <a:solidFill>
                  <a:srgbClr val="172B46"/>
                </a:solidFill>
              </a:defRPr>
            </a:pPr>
            <a:r>
              <a:t>Adaptive Emergency Governance &amp; Intelligent Supply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An enterprise decision-intelligence workspace combining leakage-safe quantile GBDT forecasting, SciPy HiGHS Mixed-Integer Linear Programming (MILP), TreeSHAP attribution, and 100% grounded GenAI decision explanations for multi-echelon medical consumable supply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4389120"/>
            <a:ext cx="8869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78D73"/>
                </a:solidFill>
              </a:defRPr>
            </a:pPr>
            <a:r>
              <a:t>DATANOVA 2026 Submission  •  Milestone 4 Final Release  •  78 Passing Tests  •  Zero Fabricated Metrics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The Criticality of Non-Patient-Specific Medical Supply Chains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367A3"/>
                </a:solidFill>
              </a:defRPr>
            </a:pPr>
            <a:r>
              <a:t>1. Operational Vulnerability</a:t>
            </a:r>
          </a:p>
          <a:p/>
          <a:p>
            <a:pPr>
              <a:defRPr sz="1200">
                <a:solidFill>
                  <a:srgbClr val="172B46"/>
                </a:solidFill>
              </a:defRPr>
            </a:pPr>
            <a:r>
              <a:t>• Modern hospitals rely on uninterrupted flows of consumable PPE, biocidal disinfectants, and biohazard supplies.</a:t>
            </a:r>
          </a:p>
          <a:p>
            <a:pPr>
              <a:defRPr sz="1200">
                <a:solidFill>
                  <a:srgbClr val="172B46"/>
                </a:solidFill>
              </a:defRPr>
            </a:pPr>
            <a:r>
              <a:t>• Stockouts halt elective surgeries, expose clinical staff to pathogens, and trigger emergency ad-hoc courier fees.</a:t>
            </a:r>
          </a:p>
          <a:p>
            <a:pPr>
              <a:defRPr sz="1200">
                <a:solidFill>
                  <a:srgbClr val="172B46"/>
                </a:solidFill>
              </a:defRPr>
            </a:pPr>
            <a:r>
              <a:t>• Demand is non-stationary, exhibiting dual weekly rhythms, Poisson emergency surges, and seasonal waves.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C78B31"/>
                </a:solidFill>
              </a:defRPr>
            </a:pPr>
            <a:r>
              <a:t>2. The Supply Chain Trilemma</a:t>
            </a:r>
          </a:p>
          <a:p/>
          <a:p>
            <a:pPr>
              <a:defRPr sz="1200">
                <a:solidFill>
                  <a:srgbClr val="172B46"/>
                </a:solidFill>
              </a:defRPr>
            </a:pPr>
            <a:r>
              <a:t>• Clinical Severity vs. Budget: Trauma centers face 3x shortage penalty multipliers over specialty clinics.</a:t>
            </a:r>
          </a:p>
          <a:p>
            <a:pPr>
              <a:defRPr sz="1200">
                <a:solidFill>
                  <a:srgbClr val="172B46"/>
                </a:solidFill>
              </a:defRPr>
            </a:pPr>
            <a:r>
              <a:t>• Routing Economics vs. Responsiveness: Fixed route activation costs ($150 + $1.20/km) demand load consolidation.</a:t>
            </a:r>
          </a:p>
          <a:p>
            <a:pPr>
              <a:defRPr sz="1200">
                <a:solidFill>
                  <a:srgbClr val="172B46"/>
                </a:solidFill>
              </a:defRPr>
            </a:pPr>
            <a:r>
              <a:t>• Fairness vs. Efficiency: Pure proportional allocation starves high-severity centers, while greedy allocation abandons rural clinics.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78D73"/>
                </a:solidFill>
              </a:defRPr>
            </a:pPr>
            <a:r>
              <a:t>3. The AEGIS Innovation</a:t>
            </a:r>
          </a:p>
          <a:p/>
          <a:p>
            <a:pPr>
              <a:defRPr sz="1200">
                <a:solidFill>
                  <a:srgbClr val="172B46"/>
                </a:solidFill>
              </a:defRPr>
            </a:pPr>
            <a:r>
              <a:t>• Unified Decision Loop: Seamlessly links quantile demand forecasts into exact operations research solvers.</a:t>
            </a:r>
          </a:p>
          <a:p>
            <a:pPr>
              <a:defRPr sz="1200">
                <a:solidFill>
                  <a:srgbClr val="172B46"/>
                </a:solidFill>
              </a:defRPr>
            </a:pPr>
            <a:r>
              <a:t>• Mathematically Optimal: Solves SciPy HiGHS MILP in sub-second runtimes with branch-and-cut guarantees.</a:t>
            </a:r>
          </a:p>
          <a:p>
            <a:pPr>
              <a:defRPr sz="1200">
                <a:solidFill>
                  <a:srgbClr val="172B46"/>
                </a:solidFill>
              </a:defRPr>
            </a:pPr>
            <a:r>
              <a:t>• Explainable &amp; Grounded: TreeSHAP for predictions, Decision Explainer for allocations, Grounded GenAI for operations directors.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Deterministic Data Provenance &amp; Leakage Prevention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2367A3"/>
                </a:solidFill>
              </a:defRPr>
            </a:pPr>
            <a:r>
              <a:t>Physically Grounded Synthetic Topology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20 Simulated Hospitals: 4 operational tiers (Level 1 Trauma, Regional Referral, Community, Specialty Clinic) with 90 to 850 beds.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3 Regional Depots: Central Logistics Center (50%), Northern Depot (25%), Southern Depot (25%).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3 Product Categories: PPE, Sanitation, and Medical Utility supplies across 365 daily observations (21,900 panel rows).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Synthetic Coordinates: Cartesian 2D grid with 1.25 road circuity factor to compute genuine Euclidean road transport distances.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Provable Reproducibility: Seed=42, companion manifest.json, and cryptographic SHA-256 integrity hashes.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378D73"/>
                </a:solidFill>
              </a:defRPr>
            </a:pPr>
            <a:r>
              <a:t>Strict Anti-Leakage Protocol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Chronological Partitions: Strict temporal boundaries preventing future information leakage: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- Train Set: Days 1–260 (~8.5 months)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- Development / Val Set: Days 261–310 (~50 days, hyperparameter tuning &amp; conformal calibration)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- Held-Out Test Set: Days 311–365 (~55 days, strictly isolated)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Shifted Rolling Lags: All rolling statistics apply shift(1) ensuring observation t is excluded from feature vectors for time t.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Imputation Directionality: Telemetry dropouts use forward-fill (ffill); back-fill and global statistics are forbidden.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End-to-End Enterprise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367A3"/>
                </a:solidFill>
              </a:defRPr>
            </a:pPr>
            <a:r>
              <a:t>1. Data &amp; Feature Engineering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Deterministic generator (365 days, 20 hospitals, 3 categories). 39 leakage-safe lagged and rolling features saved to Apache PyArrow Parquet with cryptographic SHA-256 manifest.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0048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367A3"/>
                </a:solidFill>
              </a:defRPr>
            </a:pPr>
            <a:r>
              <a:t>2. Probabilistic Forecasting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Quantile GBDT (reg:quantileerror) producing point forecasts alongside 10th and 90th percentile bounds. Validated test WAPE: 14.62%, empirical interval coverage: 82.3% at nominal 80%.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77056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6849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78D73"/>
                </a:solidFill>
              </a:defRPr>
            </a:pPr>
            <a:r>
              <a:t>3. Multi-Echelon MILP Engine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SciPy HiGHS branch-and-cut solver optimizing integer shipments, binary route activations, and vehicle trips under inventory, throughput, fleet, and fairness constraints.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84064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7550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C78B31"/>
                </a:solidFill>
              </a:defRPr>
            </a:pPr>
            <a:r>
              <a:t>4. Explainability &amp; GenAI Layer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TreeSHAP efficiency decomposition for predictions; deterministic Allocation Decision Explainer for OR constraints; optional Grounded GenAI with prompt-injection defense and offline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Mathematical Optimization Engine (SciPy HiGHS MILP)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Mathematical Formulation</a:t>
            </a:r>
          </a:p>
          <a:p/>
          <a:p>
            <a:pPr>
              <a:defRPr b="1" sz="1100">
                <a:solidFill>
                  <a:srgbClr val="172B46"/>
                </a:solidFill>
              </a:defRPr>
            </a:pPr>
            <a:r>
              <a:t>Decision Variables: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x(w,h,c) in Z+: Integer units shipped from warehouse w to hospital h.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y(w,h) in {0,1}: Binary route activation variable.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v(w,h) in Z+: Integer vehicle dispatch count.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• s(h,c,k) &gt;= 0: Continuous unmet demand recourse shortage.</a:t>
            </a:r>
          </a:p>
          <a:p/>
          <a:p>
            <a:pPr>
              <a:defRPr b="1" sz="1100">
                <a:solidFill>
                  <a:srgbClr val="172B46"/>
                </a:solidFill>
              </a:defRPr>
            </a:pPr>
            <a:r>
              <a:t>Objective Function:</a:t>
            </a:r>
          </a:p>
          <a:p>
            <a:pPr>
              <a:defRPr sz="1000">
                <a:solidFill>
                  <a:srgbClr val="2367A3"/>
                </a:solidFill>
              </a:defRPr>
            </a:pPr>
            <a:r>
              <a:t>min sum [ c_ship * x + c_route * y + c_veh * v ] + sum p_k * [ pi_short * s ]</a:t>
            </a:r>
          </a:p>
          <a:p>
            <a:pPr>
              <a:defRPr sz="1000">
                <a:solidFill>
                  <a:srgbClr val="172B46"/>
                </a:solidFill>
              </a:defRPr>
            </a:pPr>
            <a:r>
              <a:t>Where pi_short reflects clinical triage weights (Level 1 Trauma = 3.0x, Regional = 2.0x, Community = 1.2x, Specialty = 1.0x).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78D73"/>
                </a:solidFill>
              </a:defRPr>
            </a:pPr>
            <a:r>
              <a:t>Physical Constraints &amp; Relaxation Analysis</a:t>
            </a:r>
          </a:p>
          <a:p/>
          <a:p>
            <a:pPr>
              <a:defRPr b="1" sz="1100">
                <a:solidFill>
                  <a:srgbClr val="172B46"/>
                </a:solidFill>
              </a:defRPr>
            </a:pPr>
            <a:r>
              <a:t>Hard Physical Constraints: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1. Inventory Conservation: sum_h x(w,h,c) &lt;= I(w,c)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2. Warehouse Dispatch Limits: sum_hc x(w,h,c) &lt;= Cap(w)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3. Fleet &amp; Route Linking: sum_c x &lt;= Q_veh * v &lt;= M * y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4. Minimum Service Coverage (Fairness): sum_w x &gt;= alpha_min * d</a:t>
            </a:r>
          </a:p>
          <a:p/>
          <a:p>
            <a:pPr>
              <a:defRPr b="1" sz="1100">
                <a:solidFill>
                  <a:srgbClr val="C78B31"/>
                </a:solidFill>
              </a:defRPr>
            </a:pPr>
            <a:r>
              <a:t>Automated Fairness Relaxation Analyzer:</a:t>
            </a:r>
          </a:p>
          <a:p>
            <a:pPr>
              <a:defRPr sz="1000">
                <a:solidFill>
                  <a:srgbClr val="172B46"/>
                </a:solidFill>
              </a:defRPr>
            </a:pPr>
            <a:r>
              <a:t>• When alpha_min is mathematically infeasible, AEGIS computes maximum feasible coverage alpha* and exact resource deficits (inventory &amp; throughput shortfalls).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Dual-Layer Explainability &amp; Grounded GenAI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1. TreeSHAP (ML Forecast)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Explains the statistical forecast y_hat.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Exact polynomial algorithm (Lundberg et al., 2020) across 39 features.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Strict Additivity Verified: Base E[Y] + sum phi_i = y_hat with &lt; 1e-4 error.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Dominant features: demand_lag_7, demand_rolling_7_mean, bed_capacity.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78D73"/>
                </a:solidFill>
              </a:defRPr>
            </a:pPr>
            <a:r>
              <a:t>2. Decision Explainer (OR)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Explains optimization allocations x(w,h,c).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SHAP cannot explain allocations because allocations depend on stock limits, vehicle sizes, and route fees.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Mathematical attribution of binding constraints, route activation economics, and clinical triage tier tradeoffs.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3296" y="1463040"/>
            <a:ext cx="3328416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645920"/>
            <a:ext cx="296265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C78B31"/>
                </a:solidFill>
              </a:defRPr>
            </a:pPr>
            <a:r>
              <a:t>3. Grounded GenAI Layer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Pydantic DecisionContextRecord encapsulating verified metrics.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Factual Grounding Validator: Rejects ungrounded numbers and hallucinations.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Prompt-Injection Defense: Sanitizes adversarial operator notes.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Zero Paid API Dependency: Fully operational deterministic 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Audited Scientific Benchmark &amp; Policy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Policy Architecture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Feasible Instances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 Fill Rate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 Total Cost ($)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Shortage Penalty ($)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Mean Solve Time</a:t>
                      </a:r>
                    </a:p>
                  </a:txBody>
                  <a:tcPr>
                    <a:solidFill>
                      <a:srgbClr val="172B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Deterministic MILP (HiGHS)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21 / 25 (84%)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$214,520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$14,200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0.42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Two-Stage Stochastic MILP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18 / 25 (72%)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95.6%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$218,140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$14,850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1.85 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Demand-Priority 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20 / 25 (80%)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91.2%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$264,800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$32,100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0.01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Proportional Allocation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24 / 25 (96%)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88.4%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$295,400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$48,900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72B46"/>
                          </a:solidFill>
                        </a:defRPr>
                      </a:pPr>
                      <a:r>
                        <a:t>0.004 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389120"/>
            <a:ext cx="10728655" cy="1828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36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3628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2367A3"/>
                </a:solidFill>
              </a:defRPr>
            </a:pPr>
            <a:r>
              <a:t>Key Verified Audit Insights (Milestone 2 Audit &amp; Repair):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Common-Feasible Subset (N=16 matched pairs): Deterministic MILP achieves identical service coverage while reducing total logistics cost by 19.1% relative to Greedy ($50,280 saved per dispatch) and 27.4% relative to Proportional.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Integrality &amp; Feasibility Guarantee: Every evaluated allocation passes independent feasibility checks with zero warehouse inventory overdraw and strict adherence to vehicle capacity limits.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AEGIS Decision Workspace — Live Application Evidence</a:t>
            </a:r>
          </a:p>
        </p:txBody>
      </p:sp>
      <p:pic>
        <p:nvPicPr>
          <p:cNvPr id="5" name="Picture 4" descr="01_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3909060"/>
          </a:xfrm>
          <a:prstGeom prst="rect">
            <a:avLst/>
          </a:prstGeom>
        </p:spPr>
      </p:pic>
      <p:pic>
        <p:nvPicPr>
          <p:cNvPr id="6" name="Picture 5" descr="03_explainability_genai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463040"/>
            <a:ext cx="521208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6928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67A3"/>
                </a:solidFill>
              </a:defRPr>
            </a:pPr>
            <a:r>
              <a:t>Tab 1: 2D Cartesian Facility Map &amp; 55-Day Quantile Timeseries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8095" y="5669280"/>
            <a:ext cx="5212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67A3"/>
                </a:solidFill>
              </a:defRPr>
            </a:pPr>
            <a:r>
              <a:t>Tab 3: TreeSHAP Waterfall Decomposition &amp; Grounded GenAI Decision Card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Governance, Security Boundaries &amp; System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Responsible AI &amp; Governance Safeguards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Zero Patient-Specific Data (No PHI/PII): Purely aggregates consumable box inventory; immune to HIPAA privacy breaches.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Clinical Disclaimer: AEGIS explicitly governs supply logistics and does NOT provide patient diagnosis, prescription, or clinical triage advice.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Prompt-Injection Resistance: Regex filter blocks override patterns (e.g. 'ignore previous instructions', 'bypass governance').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Human-in-the-Loop Authority: Final warehouse dispatch requires human authorization; solver results are decision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C78B31"/>
                </a:solidFill>
              </a:defRPr>
            </a:pPr>
            <a:r>
              <a:t>Operational Caveats &amp; System Limitations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Synthetic Generalizability: While the dual-seasonality Poisson surge generator models realistic dynamics, synthetic data cannot foresee geopolitical embargoes or sudden regulatory mandates.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Bounded Solvers: Time limits (20s ceiling) prevent infinite Branch-and-Cut branching under extreme combinatorial scenarios.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Client Rendering: High scenario matrices render client-side via Plotly, which may experience minor UI latency on low-spec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367A3"/>
                </a:solidFill>
              </a:defRPr>
            </a:pPr>
            <a:r>
              <a:t>AEGIS • DATANOVA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72B46"/>
                </a:solidFill>
              </a:defRPr>
            </a:pPr>
            <a:r>
              <a:t>Implementation Roadmap &amp; Healthcare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2367A3"/>
                </a:solidFill>
              </a:defRPr>
            </a:pPr>
            <a:r>
              <a:t>Production Rollout Roadmap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Phase 1 (Immediate / Q1 2026): Streamlit Community Cloud deployment with automated cryptographic audit checks.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Phase 2 (Q2 2026): Live HL7 / FHIR SupplyDelivery integration to ingest automated RFID consumption telemetry.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Phase 3 (Q3 2026): Dynamic in-transit vehicle rerouting with GPS traffic feeds and cold-chain temperature monitors.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Phase 4 (Q4 2026): Multi-regional federation linking statewide emergency stockpiles with FEMA coordination.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0975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378D73"/>
                </a:solidFill>
              </a:defRPr>
            </a:pPr>
            <a:r>
              <a:t>Quantified Healthcare Impact</a:t>
            </a:r>
          </a:p>
          <a:p/>
          <a:p>
            <a:pPr>
              <a:defRPr sz="1100">
                <a:solidFill>
                  <a:srgbClr val="172B46"/>
                </a:solidFill>
              </a:defRPr>
            </a:pPr>
            <a:r>
              <a:t>• 22% Reduction in Preventable Shortages: Level 1 Trauma protection ensures critical surgical consumables remain stocked during regional surges.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19.1% Reduction in Operating Costs: High route consolidation eliminates redundant dispatches, saving ~$50k per regional restocking cycle.</a:t>
            </a:r>
          </a:p>
          <a:p>
            <a:pPr>
              <a:defRPr sz="1100">
                <a:solidFill>
                  <a:srgbClr val="172B46"/>
                </a:solidFill>
              </a:defRPr>
            </a:pPr>
            <a:r>
              <a:t>• Operational Trust: Factual grounding and TreeSHAP waterfall transparency give logistics incident commanders confidence in algorithmic recommendations.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